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e00fd81be2425b" /><Relationship Type="http://schemas.openxmlformats.org/officeDocument/2006/relationships/extended-properties" Target="/docProps/app.xml" Id="Rce99ff0bb337468b" /><Relationship Type="http://schemas.openxmlformats.org/officeDocument/2006/relationships/officeDocument" Target="/ppt/presentation.xml" Id="R21afed596c59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7fd4c91ba40eb"/>
  </p:sldMasterIdLst>
  <p:notesMasterIdLst>
    <p:notesMasterId xmlns:r="http://schemas.openxmlformats.org/officeDocument/2006/relationships" r:id="R5def088dbfc74bb3"/>
  </p:notesMasterIdLst>
  <p:sldIdLst>
    <p:sldId xmlns:r="http://schemas.openxmlformats.org/officeDocument/2006/relationships" id="256" r:id="R5017fd4a1dfc43bc"/>
    <p:sldId xmlns:r="http://schemas.openxmlformats.org/officeDocument/2006/relationships" id="257" r:id="R66abb8ee6e4e45fd"/>
    <p:sldId xmlns:r="http://schemas.openxmlformats.org/officeDocument/2006/relationships" id="258" r:id="R3849c81885a6486f"/>
    <p:sldId xmlns:r="http://schemas.openxmlformats.org/officeDocument/2006/relationships" id="259" r:id="R8a55ba61dbb14731"/>
    <p:sldId xmlns:r="http://schemas.openxmlformats.org/officeDocument/2006/relationships" id="260" r:id="Rd9fbd9f1e8104dbe"/>
    <p:sldId xmlns:r="http://schemas.openxmlformats.org/officeDocument/2006/relationships" id="261" r:id="R704001a5ae4040b3"/>
    <p:sldId xmlns:r="http://schemas.openxmlformats.org/officeDocument/2006/relationships" id="262" r:id="R1151ab757df544d6"/>
    <p:sldId xmlns:r="http://schemas.openxmlformats.org/officeDocument/2006/relationships" id="263" r:id="R5a67d3b3a9af4efe"/>
    <p:sldId xmlns:r="http://schemas.openxmlformats.org/officeDocument/2006/relationships" id="264" r:id="Re68c0f542c5b4abc"/>
    <p:sldId xmlns:r="http://schemas.openxmlformats.org/officeDocument/2006/relationships" id="265" r:id="Rc769bbb8e9614fde"/>
    <p:sldId xmlns:r="http://schemas.openxmlformats.org/officeDocument/2006/relationships" id="266" r:id="Rcf0dda75c26e4ef3"/>
    <p:sldId xmlns:r="http://schemas.openxmlformats.org/officeDocument/2006/relationships" id="267" r:id="Rd59c50d48d7148f3"/>
    <p:sldId xmlns:r="http://schemas.openxmlformats.org/officeDocument/2006/relationships" id="268" r:id="R731e71d3f22c4cb4"/>
    <p:sldId xmlns:r="http://schemas.openxmlformats.org/officeDocument/2006/relationships" id="269" r:id="R387decdc7e6345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df12dc6f564d4c" /><Relationship Type="http://schemas.openxmlformats.org/officeDocument/2006/relationships/slideMaster" Target="/ppt/slideMasters/slideMaster1.xml" Id="Rc9f7fd4c91ba40eb" /><Relationship Type="http://schemas.openxmlformats.org/officeDocument/2006/relationships/notesMaster" Target="/ppt/notesMasters/notesMaster1.xml" Id="R5def088dbfc74bb3" /><Relationship Type="http://schemas.openxmlformats.org/officeDocument/2006/relationships/presProps" Target="/ppt/presProps.xml" Id="R0f1de8e7865f4761" /><Relationship Type="http://schemas.openxmlformats.org/officeDocument/2006/relationships/tableStyles" Target="/ppt/tableStyles.xml" Id="Ra4b8427d5e354474" /><Relationship Type="http://schemas.openxmlformats.org/officeDocument/2006/relationships/slide" Target="/ppt/slides/slide1.xml" Id="R5017fd4a1dfc43bc" /><Relationship Type="http://schemas.openxmlformats.org/officeDocument/2006/relationships/slide" Target="/ppt/slides/slide2.xml" Id="R66abb8ee6e4e45fd" /><Relationship Type="http://schemas.openxmlformats.org/officeDocument/2006/relationships/slide" Target="/ppt/slides/slide3.xml" Id="R3849c81885a6486f" /><Relationship Type="http://schemas.openxmlformats.org/officeDocument/2006/relationships/slide" Target="/ppt/slides/slide4.xml" Id="R8a55ba61dbb14731" /><Relationship Type="http://schemas.openxmlformats.org/officeDocument/2006/relationships/slide" Target="/ppt/slides/slide5.xml" Id="Rd9fbd9f1e8104dbe" /><Relationship Type="http://schemas.openxmlformats.org/officeDocument/2006/relationships/slide" Target="/ppt/slides/slide6.xml" Id="R704001a5ae4040b3" /><Relationship Type="http://schemas.openxmlformats.org/officeDocument/2006/relationships/slide" Target="/ppt/slides/slide7.xml" Id="R1151ab757df544d6" /><Relationship Type="http://schemas.openxmlformats.org/officeDocument/2006/relationships/slide" Target="/ppt/slides/slide8.xml" Id="R5a67d3b3a9af4efe" /><Relationship Type="http://schemas.openxmlformats.org/officeDocument/2006/relationships/slide" Target="/ppt/slides/slide9.xml" Id="Re68c0f542c5b4abc" /><Relationship Type="http://schemas.openxmlformats.org/officeDocument/2006/relationships/slide" Target="/ppt/slides/slide10.xml" Id="Rc769bbb8e9614fde" /><Relationship Type="http://schemas.openxmlformats.org/officeDocument/2006/relationships/slide" Target="/ppt/slides/slide11.xml" Id="Rcf0dda75c26e4ef3" /><Relationship Type="http://schemas.openxmlformats.org/officeDocument/2006/relationships/slide" Target="/ppt/slides/slide12.xml" Id="Rd59c50d48d7148f3" /><Relationship Type="http://schemas.openxmlformats.org/officeDocument/2006/relationships/slide" Target="/ppt/slides/slide13.xml" Id="R731e71d3f22c4cb4" /><Relationship Type="http://schemas.openxmlformats.org/officeDocument/2006/relationships/slide" Target="/ppt/slides/slide14.xml" Id="R387decdc7e6345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902abe16aa4f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1b193c1b5b493d" /><Relationship Type="http://schemas.openxmlformats.org/officeDocument/2006/relationships/notesMaster" Target="/ppt/notesMasters/notesMaster1.xml" Id="R5016eed22ed34f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6d6f854b2b4c53" /><Relationship Type="http://schemas.openxmlformats.org/officeDocument/2006/relationships/notesMaster" Target="/ppt/notesMasters/notesMaster1.xml" Id="Ra0ce28f9348c4c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bc7a2bd7a346c6" /><Relationship Type="http://schemas.openxmlformats.org/officeDocument/2006/relationships/notesMaster" Target="/ppt/notesMasters/notesMaster1.xml" Id="R25942c75647c4d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536eaa280a4ad1" /><Relationship Type="http://schemas.openxmlformats.org/officeDocument/2006/relationships/notesMaster" Target="/ppt/notesMasters/notesMaster1.xml" Id="Rbdc19308409048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0f387049be4dc6" /><Relationship Type="http://schemas.openxmlformats.org/officeDocument/2006/relationships/notesMaster" Target="/ppt/notesMasters/notesMaster1.xml" Id="Rb7780981962d4e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516906019e4b95" /><Relationship Type="http://schemas.openxmlformats.org/officeDocument/2006/relationships/notesMaster" Target="/ppt/notesMasters/notesMaster1.xml" Id="R9ae10927e10b42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97eeb772824ff9" /><Relationship Type="http://schemas.openxmlformats.org/officeDocument/2006/relationships/notesMaster" Target="/ppt/notesMasters/notesMaster1.xml" Id="R179004aa227043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c85461af4748a5" /><Relationship Type="http://schemas.openxmlformats.org/officeDocument/2006/relationships/notesMaster" Target="/ppt/notesMasters/notesMaster1.xml" Id="R4d7fa01f3c854d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d7efdb5aa34b53" /><Relationship Type="http://schemas.openxmlformats.org/officeDocument/2006/relationships/notesMaster" Target="/ppt/notesMasters/notesMaster1.xml" Id="Rb27774ec1c5c46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4e1bbd6ff349fe" /><Relationship Type="http://schemas.openxmlformats.org/officeDocument/2006/relationships/notesMaster" Target="/ppt/notesMasters/notesMaster1.xml" Id="R1ca5e0d1b83943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b30a4ae5a949ea" /><Relationship Type="http://schemas.openxmlformats.org/officeDocument/2006/relationships/notesMaster" Target="/ppt/notesMasters/notesMaster1.xml" Id="R75b7d1628c5740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378d1e55b24211" /><Relationship Type="http://schemas.openxmlformats.org/officeDocument/2006/relationships/notesMaster" Target="/ppt/notesMasters/notesMaster1.xml" Id="R82d60e32769c46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b2902d6cd44362" /><Relationship Type="http://schemas.openxmlformats.org/officeDocument/2006/relationships/notesMaster" Target="/ppt/notesMasters/notesMaster1.xml" Id="R831a934b07d948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c443eab6434cae" /><Relationship Type="http://schemas.openxmlformats.org/officeDocument/2006/relationships/notesMaster" Target="/ppt/notesMasters/notesMaster1.xml" Id="R0807810d09e64c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https://github.com/ykpoon/rss_itadmin_ipad_borrow/blob/851ca0cf9170b72c807d06326df9653f202bd9aa/RELEASE_NOTES.md</a:t>
            </a:r>
          </a:p>
          <a:p xmlns:a="http://schemas.openxmlformats.org/drawingml/2006/main">
            <a:r>
              <a:t>https://github.com/ykpoon/rss_itadmin_ipad_borrow/blob/851ca0cf9170b72c807d06326df9653f202bd9aa/index.html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https://github.com/ykpoon/rss_itadmin_ipad_borrow/blob/851ca0cf9170b72c807d06326df9653f202bd9aa/index.html</a:t>
            </a:r>
          </a:p>
          <a:p xmlns:a="http://schemas.openxmlformats.org/drawingml/2006/main">
            <a:r>
              <a:t>https://github.com/ykpoon/rss_itadmin_ipad_borrow/blob/851ca0cf9170b72c807d06326df9653f202bd9aa/admin.html</a:t>
            </a:r>
          </a:p>
          <a:p xmlns:a="http://schemas.openxmlformats.org/drawingml/2006/main">
            <a:r>
              <a:t>https://github.com/ykpoon/rss_itadmin_ipad_borrow/blob/851ca0cf9170b72c807d06326df9653f202bd9aa/RELEASE_NOTES.md</a:t>
            </a:r>
          </a:p>
          <a:p xmlns:a="http://schemas.openxmlformats.org/drawingml/2006/main">
            <a:r>
              <a:t>設立原意亦依本對話中使用者對資源整存、圖書館調配及跨班借用需要的說明。</a:t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https://github.com/ykpoon/rss_itadmin_ipad_borrow/blob/851ca0cf9170b72c807d06326df9653f202bd9aa/index.html</a:t>
            </a:r>
          </a:p>
          <a:p xmlns:a="http://schemas.openxmlformats.org/drawingml/2006/main">
            <a:r>
              <a:t>https://github.com/ykpoon/rss_itadmin_ipad_borrow/blob/851ca0cf9170b72c807d06326df9653f202bd9aa/admin.html</a:t>
            </a:r>
          </a:p>
          <a:p xmlns:a="http://schemas.openxmlformats.org/drawingml/2006/main">
            <a:r>
              <a:t>https://github.com/ykpoon/rss_itadmin_ipad_borrow/blob/851ca0cf9170b72c807d06326df9653f202bd9aa/booking-enhancements.js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https://github.com/ykpoon/rss_itadmin_ipad_borrow/blob/851ca0cf9170b72c807d06326df9653f202bd9aa/index.html</a:t>
            </a:r>
          </a:p>
          <a:p xmlns:a="http://schemas.openxmlformats.org/drawingml/2006/main">
            <a:r>
              <a:t>https://github.com/ykpoon/rss_itadmin_ipad_borrow/blob/851ca0cf9170b72c807d06326df9653f202bd9aa/booking-enhancements.js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https://github.com/ykpoon/rss_itadmin_ipad_borrow/blob/851ca0cf9170b72c807d06326df9653f202bd9aa/index.html</a:t>
            </a:r>
          </a:p>
          <a:p xmlns:a="http://schemas.openxmlformats.org/drawingml/2006/main">
            <a:r>
              <a:t>https://github.com/ykpoon/rss_itadmin_ipad_borrow/blob/851ca0cf9170b72c807d06326df9653f202bd9aa/personal-summary.js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https://github.com/ykpoon/rss_itadmin_ipad_borrow/blob/851ca0cf9170b72c807d06326df9653f202bd9aa/batch-ui.js</a:t>
            </a:r>
          </a:p>
          <a:p xmlns:a="http://schemas.openxmlformats.org/drawingml/2006/main">
            <a:r>
              <a:t>https://github.com/ykpoon/rss_itadmin_ipad_borrow/blob/851ca0cf9170b72c807d06326df9653f202bd9aa/booking-enhancements.js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https://github.com/ykpoon/rss_itadmin_ipad_borrow/blob/851ca0cf9170b72c807d06326df9653f202bd9aa/database/booking-date-rules.sql</a:t>
            </a:r>
          </a:p>
          <a:p xmlns:a="http://schemas.openxmlformats.org/drawingml/2006/main">
            <a:r>
              <a:t>https://github.com/ykpoon/rss_itadmin_ipad_borrow/blob/851ca0cf9170b72c807d06326df9653f202bd9aa/booking-enhancements.js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https://github.com/ykpoon/rss_itadmin_ipad_borrow/blob/851ca0cf9170b72c807d06326df9653f202bd9aa/index.js</a:t>
            </a:r>
          </a:p>
          <a:p xmlns:a="http://schemas.openxmlformats.org/drawingml/2006/main">
            <a:r>
              <a:t>https://github.com/ykpoon/rss_itadmin_ipad_borrow/blob/851ca0cf9170b72c807d06326df9653f202bd9aa/admin.js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https://github.com/ykpoon/rss_itadmin_ipad_borrow/blob/851ca0cf9170b72c807d06326df9653f202bd9aa/personal-summary.js</a:t>
            </a:r>
          </a:p>
          <a:p xmlns:a="http://schemas.openxmlformats.org/drawingml/2006/main">
            <a:r>
              <a:t>https://github.com/ykpoon/rss_itadmin_ipad_borrow/blob/851ca0cf9170b72c807d06326df9653f202bd9aa/booking-enhancements.js</a:t>
            </a:r>
          </a:p>
          <a:p xmlns:a="http://schemas.openxmlformats.org/drawingml/2006/main">
            <a:r>
              <a:t>總表示意只展示部分欄位，實際版另有科目、地點及備註。</a:t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https://github.com/ykpoon/rss_itadmin_ipad_borrow/blob/851ca0cf9170b72c807d06326df9653f202bd9aa/booking-enhancements.js</a:t>
            </a:r>
          </a:p>
          <a:p xmlns:a="http://schemas.openxmlformats.org/drawingml/2006/main">
            <a:r>
              <a:t>https://github.com/ykpoon/rss_itadmin_ipad_borrow/blob/851ca0cf9170b72c807d06326df9653f202bd9aa/booking-feedback.js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https://github.com/ykpoon/rss_itadmin_ipad_borrow/blob/851ca0cf9170b72c807d06326df9653f202bd9aa/booking-date-rules.js</a:t>
            </a:r>
          </a:p>
          <a:p xmlns:a="http://schemas.openxmlformats.org/drawingml/2006/main">
            <a:r>
              <a:t>https://github.com/ykpoon/rss_itadmin_ipad_borrow/blob/851ca0cf9170b72c807d06326df9653f202bd9aa/database/booking-date-rules.sql</a:t>
            </a:r>
          </a:p>
          <a:p xmlns:a="http://schemas.openxmlformats.org/drawingml/2006/main">
            <a:r>
              <a:t>期限以香港時間計算。當日仍可在供應及身份檢查通過後增加數量。部署前既有的2027預約保留。</a:t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https://github.com/ykpoon/rss_itadmin_ipad_borrow/blob/851ca0cf9170b72c807d06326df9653f202bd9aa/admin.js</a:t>
            </a:r>
          </a:p>
          <a:p xmlns:a="http://schemas.openxmlformats.org/drawingml/2006/main">
            <a:r>
              <a:t>https://github.com/ykpoon/rss_itadmin_ipad_borrow/blob/851ca0cf9170b72c807d06326df9653f202bd9aa/safe-render.js</a:t>
            </a:r>
          </a:p>
          <a:p xmlns:a="http://schemas.openxmlformats.org/drawingml/2006/main">
            <a:r>
              <a:t>https://github.com/ykpoon/rss_itadmin_ipad_borrow/blob/851ca0cf9170b72c807d06326df9653f202bd9aa/database/booking-date-rules.sql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https://github.com/ykpoon/rss_itadmin_ipad_borrow/blob/851ca0cf9170b72c807d06326df9653f202bd9aa/RELEASE_NOTES.md</a:t>
            </a:r>
          </a:p>
          <a:p xmlns:a="http://schemas.openxmlformats.org/drawingml/2006/main">
            <a:r>
              <a:t>https://github.com/ykpoon/rss_itadmin_ipad_borrow/blob/851ca0cf9170b72c807d06326df9653f202bd9aa/index.js</a:t>
            </a:r>
          </a:p>
          <a:p xmlns:a="http://schemas.openxmlformats.org/drawingml/2006/main">
            <a:r>
              <a:t>https://github.com/ykpoon/rss_itadmin_ipad_borrow/blob/851ca0cf9170b72c807d06326df9653f202bd9aa/personal-summary.js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資料依據：正式版截至2026年10月29日。GitHub提交851ca0cf9170b72c807d06326df9653f202bd9aa。</a:t>
            </a:r>
          </a:p>
          <a:p xmlns:a="http://schemas.openxmlformats.org/drawingml/2006/main">
            <a:r>
              <a:t>https://github.com/ykpoon/rss_itadmin_ipad_borrow/blob/851ca0cf9170b72c807d06326df9653f202bd9aa/index.html</a:t>
            </a:r>
          </a:p>
          <a:p xmlns:a="http://schemas.openxmlformats.org/drawingml/2006/main">
            <a:r>
              <a:t>https://github.com/ykpoon/rss_itadmin_ipad_borrow/blob/851ca0cf9170b72c807d06326df9653f202bd9aa/personal-summary.js</a:t>
            </a:r>
          </a:p>
          <a:p xmlns:a="http://schemas.openxmlformats.org/drawingml/2006/main">
            <a:r>
              <a:t>https://github.com/ykpoon/rss_itadmin_ipad_borrow/blob/851ca0cf9170b72c807d06326df9653f202bd9aa/booking-date-rules.js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畫面及數字例子為功能示意，不含真實教師資料或實際借用統計。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8da6debb441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adf71923f46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4b74121f641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958f610df45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5fd08ce8848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801a931e145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62B197-BF8D-4AB6-9D8A-3DC652B61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9DD582-B331-4A48-9DB0-05A7BA2245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426A54-7ADA-4FF8-AA44-AE65A74771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564695-FC10-45D8-A163-4F90A4F95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2DBA98-E518-4601-9F4F-40B13625F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59B28C-6C96-4BEB-8C04-9B9ADE37D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C0B5F8-6B93-4214-89C6-12629F1778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6FD3FB-B9EE-487F-B2F8-715FE15E15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CC5738-F157-47C2-9A23-7AA0D9894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351585-E175-4552-8CC4-8EAB87E532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90f130dd684fdf" /><Relationship Type="http://schemas.openxmlformats.org/officeDocument/2006/relationships/slideLayout" Target="/ppt/slideLayouts/slideLayout1.xml" Id="R9623ddaa68134466" /><Relationship Type="http://schemas.openxmlformats.org/officeDocument/2006/relationships/slideLayout" Target="/ppt/slideLayouts/slideLayout2.xml" Id="R8a41e94e7af946ba" /><Relationship Type="http://schemas.openxmlformats.org/officeDocument/2006/relationships/slideLayout" Target="/ppt/slideLayouts/slideLayout3.xml" Id="R8a34e38973b147e8" /><Relationship Type="http://schemas.openxmlformats.org/officeDocument/2006/relationships/slideLayout" Target="/ppt/slideLayouts/slideLayout4.xml" Id="Rf6e333c416864b9c" /><Relationship Type="http://schemas.openxmlformats.org/officeDocument/2006/relationships/slideLayout" Target="/ppt/slideLayouts/slideLayout5.xml" Id="R880d67bf5cf84bba" /><Relationship Type="http://schemas.openxmlformats.org/officeDocument/2006/relationships/slideLayout" Target="/ppt/slideLayouts/slideLayout6.xml" Id="R459386142950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23ddaa68134466"/>
    <p:sldLayoutId xmlns:r="http://schemas.openxmlformats.org/officeDocument/2006/relationships" id="2147483650" r:id="R8a41e94e7af946ba"/>
    <p:sldLayoutId xmlns:r="http://schemas.openxmlformats.org/officeDocument/2006/relationships" id="2147483651" r:id="R8a34e38973b147e8"/>
    <p:sldLayoutId xmlns:r="http://schemas.openxmlformats.org/officeDocument/2006/relationships" id="2147483652" r:id="Rf6e333c416864b9c"/>
    <p:sldLayoutId xmlns:r="http://schemas.openxmlformats.org/officeDocument/2006/relationships" id="2147483653" r:id="R880d67bf5cf84bba"/>
    <p:sldLayoutId xmlns:r="http://schemas.openxmlformats.org/officeDocument/2006/relationships" id="2147483654" r:id="R459386142950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732cb4b514cbd" /><Relationship Type="http://schemas.openxmlformats.org/officeDocument/2006/relationships/notesSlide" Target="/ppt/notesSlides/notesSlide1.xml" Id="R335baff717cf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e5f1235c74cd8" /><Relationship Type="http://schemas.openxmlformats.org/officeDocument/2006/relationships/notesSlide" Target="/ppt/notesSlides/notesSlide2.xml" Id="R48a67ab969794d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7d9bb89cb4587" /><Relationship Type="http://schemas.openxmlformats.org/officeDocument/2006/relationships/notesSlide" Target="/ppt/notesSlides/notesSlide3.xml" Id="R8db887e57d4f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10fb4c5964fe7" /><Relationship Type="http://schemas.openxmlformats.org/officeDocument/2006/relationships/notesSlide" Target="/ppt/notesSlides/notesSlide4.xml" Id="R8557c5d7c42643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47be14eee41a2" /><Relationship Type="http://schemas.openxmlformats.org/officeDocument/2006/relationships/notesSlide" Target="/ppt/notesSlides/notesSlide5.xml" Id="R1cde1b3f289142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6e67890ad47e5" /><Relationship Type="http://schemas.openxmlformats.org/officeDocument/2006/relationships/notesSlide" Target="/ppt/notesSlides/notesSlide6.xml" Id="R106fa71eed5948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7ef68469f4af5" /><Relationship Type="http://schemas.openxmlformats.org/officeDocument/2006/relationships/notesSlide" Target="/ppt/notesSlides/notesSlide7.xml" Id="R78d9c44e05d942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fcd04828b44b4" /><Relationship Type="http://schemas.openxmlformats.org/officeDocument/2006/relationships/notesSlide" Target="/ppt/notesSlides/notesSlide8.xml" Id="R6635537920a045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6c7ff88c34956" /><Relationship Type="http://schemas.openxmlformats.org/officeDocument/2006/relationships/notesSlide" Target="/ppt/notesSlides/notesSlide9.xml" Id="Rc6b4c9f1f44b44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0b28759414209" /><Relationship Type="http://schemas.openxmlformats.org/officeDocument/2006/relationships/notesSlide" Target="/ppt/notesSlides/notesSlide10.xml" Id="R300144f13b7d4f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b92214e6c4381" /><Relationship Type="http://schemas.openxmlformats.org/officeDocument/2006/relationships/notesSlide" Target="/ppt/notesSlides/notesSlide11.xml" Id="R1832ba6737e24f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8b23664de4554" /><Relationship Type="http://schemas.openxmlformats.org/officeDocument/2006/relationships/notesSlide" Target="/ppt/notesSlides/notesSlide12.xml" Id="R102d580c011f47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5a0771cc54f8c" /><Relationship Type="http://schemas.openxmlformats.org/officeDocument/2006/relationships/notesSlide" Target="/ppt/notesSlides/notesSlide13.xml" Id="Rdddb8d266fb94d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622fd3c81456e" /><Relationship Type="http://schemas.openxmlformats.org/officeDocument/2006/relationships/hyperlink" Target="https://rss-itadmin-ipad-borrow.vercel.app" TargetMode="External" Id="R29cb6db0831e4b4a" /><Relationship Type="http://schemas.openxmlformats.org/officeDocument/2006/relationships/notesSlide" Target="/ppt/notesSlides/notesSlide14.xml" Id="Rf081ca33f19841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F6955-37EA-4539-922E-B9900EA0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FE5D2-E5BE-470C-8482-1C480FCE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67055-D882-4F19-9DE8-6D10BFE8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BCD4D7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47627-FD3A-428B-B1DA-6F371D24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017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iPad 及行動設備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D3634-C3A1-4521-9663-1BA5E8DC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CCFBF1"/>
                </a:solidFill>
                <a:latin typeface="Noto Sans CJK TC"/>
                <a:ea typeface="Noto Sans CJK TC"/>
                <a:cs typeface="Noto Sans CJK TC"/>
              </a:rPr>
              <a:t>設立原意、功能導覽與更新介紹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B49B4-BBDA-4F56-8A5A-0BD48ADB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19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C0D6D9"/>
                </a:solidFill>
                <a:latin typeface="Noto Sans CJK TC"/>
                <a:ea typeface="Noto Sans CJK TC"/>
                <a:cs typeface="Noto Sans CJK TC"/>
              </a:rPr>
              <a:t>同事簡介　2026年10月29日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F21BA-73C7-4865-AE8D-72F9F5A1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95375"/>
            <a:ext cx="3286125" cy="423862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F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75D9A-4313-4F91-9EF3-455C6727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28725"/>
            <a:ext cx="3019425" cy="3971925"/>
          </a:xfrm>
          <a:prstGeom xmlns:a="http://schemas.openxmlformats.org/drawingml/2006/main" prst="roundRect">
            <a:avLst>
              <a:gd name="adj" fmla="val 504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F9605-E045-4121-A227-18AA48CF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114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D60E4-1D64-4BFD-AAB5-387E746D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設備借用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1296C-126F-41C3-B0B5-BB1A5A73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066925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0E473-1189-49AA-A6BF-1A1ECEC8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71725"/>
            <a:ext cx="2524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FCDDB-9BB2-4D45-BA3B-B66EFF8F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71725"/>
            <a:ext cx="2371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多日期預約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E71D4-68B3-418E-8B33-D048E8FE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71825"/>
            <a:ext cx="2524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58B33-54A1-4398-9840-E888C96E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71825"/>
            <a:ext cx="2371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rPr>
              <a:t>候補自動遞補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F401D-63A6-411D-9BC7-801FDF7C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71925"/>
            <a:ext cx="2524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E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310BC-EC79-419C-9AB8-6E58D94E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71925"/>
            <a:ext cx="2371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rPr>
              <a:t>我的借用總表</a:t>
            </a:r>
          </a:p>
        </p:txBody>
      </p:sp>
    </p:spTree>
    <p:extLst>
      <p:ext uri="{BB962C8B-B14F-4D97-AF65-F5344CB8AC3E}">
        <p14:creationId xmlns:p14="http://schemas.microsoft.com/office/powerpoint/2010/main" val="724520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9CB57-C00D-47A0-92C5-6F5B0C36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設立原意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00573-7582-42F7-80C6-42F67593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以全校安排為基礎，支援課堂所需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8A165-7F85-4A62-8D17-2A8D8C2D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4463F-A7F4-4E37-9D50-CFD9AF7D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F0859-38B7-47F0-A1FB-935D89C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C86E0-189A-4245-A3E0-3911ED1B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有限設備</a:t>
            </a:r>
          </a:p>
          <a:p xmlns:a="http://schemas.openxmlformats.org/drawingml/2006/main">
            <a:pPr algn="l">
              <a:def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多班教學需要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D0475-FEB8-498E-8E76-EA639062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集中記錄每個日期、課節及數量，</a:t>
            </a:r>
          </a:p>
          <a:p xmlns:a="http://schemas.openxmlformats.org/drawingml/2006/main">
            <a:pPr algn="l">
              <a:def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讓借用需求有共同依據。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7B2AB-4B6C-4ED2-906F-4BB23E76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5262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8AAF0-10DF-4C09-B597-B1BDF665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538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老師更易規劃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605ED-BC2F-4059-BE18-09C5C251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5381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同時掌握多班、多課節的預約安排。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ED016-4E53-4A12-BC7B-D86985E6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0450"/>
            <a:ext cx="538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圖書館更易調配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8A90A-7AE7-4D91-94CF-5B3F31EB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5381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清楚掌握取還狀況、候補及每日可借量。</a:t>
            </a:r>
          </a:p>
        </p:txBody>
      </p:sp>
    </p:spTree>
    <p:extLst>
      <p:ext uri="{BB962C8B-B14F-4D97-AF65-F5344CB8AC3E}">
        <p14:creationId xmlns:p14="http://schemas.microsoft.com/office/powerpoint/2010/main" val="456708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ADEDD-F9CB-46A0-92B3-1B5F69D1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系統主要特色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3B556-EA7F-4CDC-8180-8D86E84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教師預約與管理員處理，共用同一套借用記錄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96570-48E1-40C9-97FC-3C89C734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8122E-70F1-4B55-B91D-81F55AD4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9BE61-B61E-4A8B-B619-21A6E990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BF2BC-CDEC-4203-A8A3-D4178CFC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教師端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B70A1-5514-4D5F-91F0-D3AAD683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383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rPr>
              <a:t>管理員／圖書館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09855-C21B-40C9-B507-305DDCBA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48D15-442F-46FF-821A-91583B26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87C04-00DB-4665-B4E6-432C221F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4A002-4108-4C6B-930C-751C98DB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56222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學校 Google 帳號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9CD8B-830E-425A-8B44-2B60FDB5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432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配對教師身份，列出本人借用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38F3B-B8AD-4C64-9F2C-C914FB8E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00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3BEA8-27F3-4EC8-BA05-08B4A4D4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A0214-30AA-4695-8D62-D9C2617B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622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待取與歸還狀態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D4D1D-F0C0-4008-AB6A-158F80B2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4322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管理員處理取機、還機及欠取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9D2E0-B21C-4947-9557-1ADD72C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81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0A81A-67A7-4632-83F5-2E4140EC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FF371-4015-4A4F-A0B3-597AC2A9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4330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按日期及課節預約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05E56-0045-4889-B1DB-07AA637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9243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iPad／手機，填寫班別及數量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4B539-1131-406D-ADDE-95B3043B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81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1F1F4-FED0-4D41-8107-E95B2849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A2BF0-3D65-4627-95F7-D27C8A52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433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庫存與每日調節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93547-1176-4FF9-A988-CB93A7B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9243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按當日情況設定可借用總量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8D09D-A236-4FBF-BBE0-AABF4A30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3E378A-C4B0-43D3-87D5-3F954346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62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2C143D-7CBB-41E5-8CEE-8D5B61E0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2437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個人總表管理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B5B6B-16FB-4694-B091-52416441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053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查閱、修改數量及取消借用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C11B87-B068-42FA-A821-C7EF6B30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7CA86-3999-4293-BA39-3757E14A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62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BFCB1-1BD6-473C-B238-4B5610BF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5243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候補及停借管理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AA050B-6AFA-435B-A68A-141FC548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0537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維持遞補次序及借用管理規則</a:t>
            </a:r>
          </a:p>
        </p:txBody>
      </p:sp>
    </p:spTree>
    <p:extLst>
      <p:ext uri="{BB962C8B-B14F-4D97-AF65-F5344CB8AC3E}">
        <p14:creationId xmlns:p14="http://schemas.microsoft.com/office/powerpoint/2010/main" val="1738745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175212-B019-45DE-A7CB-336FF3CC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設備預約登記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44321-075B-4ED2-96E3-37B4B2BE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先確認日期及課節，再填寫教學需要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D33DA-2EE0-4BB9-88B6-89491CEA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25BD4-B13B-427D-8C94-4C7414CB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BE763-EB0F-4FA1-9D17-3C0E69DD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61BFE-A066-4CE1-B7EB-DDD81879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327CB-94C5-41B1-9027-5EFD3724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8FADA-ABD9-4C4B-B069-14C55983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使用學校帳號登入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43F86-C119-486B-8D6A-D518F618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BDE96-5C2A-4561-B61E-14F9955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D2BEA-1739-4364-A8A2-D1D86F4D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選日期、課節及設備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65070-6E9B-4698-BD89-CEAD8AD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995F3-9AC3-494E-8788-A11ECA76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DBD3C-5721-4DE3-B7ED-C7E56992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填寫班別、數量及用途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AB031-5F87-4590-87DB-768483DF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971FB-1ABE-430F-8E0A-C7960D5F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16A50-12FF-48EA-9535-0128A39F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確認待取或候補結果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4F420-0C72-4582-B4C0-5F7C5129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71650"/>
            <a:ext cx="5619750" cy="3895725"/>
          </a:xfrm>
          <a:prstGeom xmlns:a="http://schemas.openxmlformats.org/drawingml/2006/main" prst="roundRect">
            <a:avLst>
              <a:gd name="adj" fmla="val 44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2DC7B-8218-418B-B9EA-D63CE4A9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設備預約登記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DC75F-AD37-4FC8-9DF1-74468977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812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操作示意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56079-7442-4FCB-B12A-ACEF2F1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日期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1075E-52EB-45ED-B88B-922EE54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431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2026-10-30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722E01-7BCB-4034-9C9C-AA4BBCA4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課節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F6468-5571-4D80-AE66-20ECBEBE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00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第二節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04C59-F109-476B-BC6E-435760BD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575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設備／數量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AEED7F-C378-4D8C-969D-73466A4D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57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iPad　30 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2D885-BBA7-4842-970C-4E53E24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147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班別／地點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A99B1-F8F5-44BC-B024-8E0B8332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147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2A　圖書館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791457-8B57-4BD3-980A-8E757F13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719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用途需求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CD777-E419-4FF3-8E38-F261473E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3719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互動教學／多媒體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13EFF0-EA5C-4110-807F-CD69C85C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38725"/>
            <a:ext cx="506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17114E-DE7A-479C-B8BA-4D6811B1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38725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確認提交借用登記</a:t>
            </a:r>
          </a:p>
        </p:txBody>
      </p:sp>
    </p:spTree>
    <p:extLst>
      <p:ext uri="{BB962C8B-B14F-4D97-AF65-F5344CB8AC3E}">
        <p14:creationId xmlns:p14="http://schemas.microsoft.com/office/powerpoint/2010/main" val="5610643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B251BB-D3E2-4B1A-9A07-CADEF450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按教學用途選擇申請機種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54B2B-D185-41AA-B562-276DB228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讓較高性能設備優先支援高負載課堂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DCB67-BEF3-4C83-93BE-0B54183C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9458A-B836-4244-A31F-3A4B8418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2808D-C732-4506-AE84-1DB3A015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32A64-738D-4212-8420-D8B969DB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762125" cy="2571750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02F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5EC6C-16E0-4C39-A879-E70EDD31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495425" cy="2305050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B2E60-AD4E-4981-A7B6-F16FD952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8" y="2047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E6B9F-B436-46A2-A9D7-5DFB26DD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網頁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0465B-C9D3-4A8B-9B5D-E271ACAB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05125"/>
            <a:ext cx="123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A4A72-EE6C-46EB-9336-7B6550AC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219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41163-6B87-4417-A75E-C01AF4EE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FA8D7-9B49-4DEC-9E83-88297D2E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2857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DD053-4D17-402A-801D-0C7605F8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普通機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D32FD-3B6A-48B9-AE56-ED35CAE7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基礎網頁瀏覽</a:t>
            </a:r>
          </a:p>
          <a:p xmlns:a="http://schemas.openxmlformats.org/drawingml/2006/main">
            <a: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線上功課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461BF-F179-4CB7-8DFF-AD149653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719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一般機能已可支援的活動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B320D-7677-4B95-B46B-EFAB70BD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1762125" cy="2571750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02F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AA8F9-5139-42AE-999B-2F1C135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33600"/>
            <a:ext cx="1495425" cy="2305050"/>
          </a:xfrm>
          <a:prstGeom xmlns:a="http://schemas.openxmlformats.org/drawingml/2006/main" prst="roundRect">
            <a:avLst>
              <a:gd name="adj" fmla="val 10191"/>
            </a:avLst>
          </a:prstGeom>
          <a:solidFill xmlns:a="http://schemas.openxmlformats.org/drawingml/2006/main">
            <a:srgbClr val="EE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1B75C-BC6B-42FB-B270-383E6F2F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488" y="2047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B16D2-656B-4D00-B26E-C5427FDC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241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B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1C586-D985-42CB-8A78-CA69A621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91425" y="2971800"/>
            <a:ext cx="361950" cy="457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AF3A5-BB65-4E5D-9016-B9380D52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33825"/>
            <a:ext cx="1304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rPr>
              <a:t>互動多媒體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83440-3F79-4E47-A567-12201346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5717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6ABD5-D83D-4E5A-A612-46C4FB36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955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rPr>
              <a:t>較高性能機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EA5E7-BE9C-4F38-8EE9-5741B0D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19400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互動教學</a:t>
            </a:r>
          </a:p>
          <a:p xmlns:a="http://schemas.openxmlformats.org/drawingml/2006/main">
            <a:pPr algn="l">
              <a:def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多媒體課堂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55BD49-66FA-46E3-800F-52564321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719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需要更流暢的操作體驗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67810C-F55B-45C6-87C8-0C86F4E0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「申請機種」依登記用途顯示，實際派機以圖書館安排為準。</a:t>
            </a:r>
          </a:p>
        </p:txBody>
      </p:sp>
    </p:spTree>
    <p:extLst>
      <p:ext uri="{BB962C8B-B14F-4D97-AF65-F5344CB8AC3E}">
        <p14:creationId xmlns:p14="http://schemas.microsoft.com/office/powerpoint/2010/main" val="1775261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9DC32-A02C-4772-A41B-F4C3669A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多日期、多課節一次提交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37F03-385D-4880-A10A-B5EEC41F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減少同一班別資料的重複輸入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81C52-6CF9-41A1-A027-49998D21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DCE6F-2498-4BED-90D4-10CEB7A2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0CB19-59D3-4299-88FE-4BED398F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061F4-226C-43A0-A9D1-2EEBE483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同一份借用資料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DFDA4-F70B-4705-9F4F-73BB426C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429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班別、設備、數量、科目及地點</a:t>
            </a:r>
          </a:p>
          <a:p xmlns:a="http://schemas.openxmlformats.org/drawingml/2006/main">
            <a: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填寫一次，再加入日期與課節。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CC473-7EC6-4997-B756-005B6CDA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3337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0885E-948D-4324-A71E-850D25E5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每批最多 30 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3724F-BD28-4DEA-825F-0CAFC2F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76425"/>
            <a:ext cx="5953125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F1EDD-6825-418B-93E5-7475FFA7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669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批量借用清單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1BC3F-3517-49A5-84F5-CB0BD7F2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695575"/>
            <a:ext cx="5410200" cy="561975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FFA81-CBAC-4F09-B661-36910DEF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原本借用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F4580-B594-4EC7-83CC-64BE1B2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6225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10月30日　第二節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44905-255C-4433-9D95-6CF568FC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409950"/>
            <a:ext cx="5410200" cy="561975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174D2-F0CA-4837-B917-2437CBF1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766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額外加入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9F704-D457-4760-9244-7DFAE585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76625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11月02日　第三節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58552-9DF0-4EFD-B8C0-AC46A1A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124325"/>
            <a:ext cx="5410200" cy="561975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DDF9B-7CEF-4F02-8A82-CCFF5938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910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額外加入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88476-ABF5-4A34-A65A-7BF33435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910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11月04日　第二節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5543F-BFAC-45D0-821B-8CC6F5C9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原本日期及課節會自動包括。提交後每個日期／課節各自成為一筆記錄，逐筆計算待取或候補。</a:t>
            </a:r>
          </a:p>
        </p:txBody>
      </p:sp>
    </p:spTree>
    <p:extLst>
      <p:ext uri="{BB962C8B-B14F-4D97-AF65-F5344CB8AC3E}">
        <p14:creationId xmlns:p14="http://schemas.microsoft.com/office/powerpoint/2010/main" val="1943503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50AAE-451B-49D7-B3CD-7DF45117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候補機制與自動遞補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65087-E673-4F8C-A5F1-2FD7A348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取消預約後，釋出庫存按原有候補次序分配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89240-0D02-41F8-87D0-376B8378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C3105-DD73-4BA0-9E6F-8D7C3A33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333C5-1B17-41E0-897F-AB1AB56D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58E3B-1748-4FCB-AB94-D821FDAC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1432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22047-CABB-44B1-8792-C7EE7A3D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示例：釋出 20 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9C074-5510-40F4-B037-32ADC82D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候補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35FE8-1BEC-4747-A58A-00367A05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需要 15 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90ECE-4E91-4BCE-B6D0-94EBCDCA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7905750" cy="981075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DCF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9C39F-71E9-48F7-8661-73F20EF0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rPr>
              <a:t>15 部全部補上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0DDC6-C416-43F9-8EA2-97B7D82F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候補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D37B0-2695-4AAF-9BA0-81A99F08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需要 10 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83656-4463-4AFD-9E84-284B4A7B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3810000" cy="1066800"/>
          </a:xfrm>
          <a:prstGeom xmlns:a="http://schemas.openxmlformats.org/drawingml/2006/main" prst="roundRect">
            <a:avLst>
              <a:gd name="adj" fmla="val 11607"/>
            </a:avLst>
          </a:prstGeom>
          <a:solidFill xmlns:a="http://schemas.openxmlformats.org/drawingml/2006/main">
            <a:srgbClr val="DCF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B224C-A623-4A35-A909-DC3BBA93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24350"/>
            <a:ext cx="3886200" cy="1066800"/>
          </a:xfrm>
          <a:prstGeom xmlns:a="http://schemas.openxmlformats.org/drawingml/2006/main" prst="roundRect">
            <a:avLst>
              <a:gd name="adj" fmla="val 11607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257F1-311C-4F53-A18B-7DA7C3A0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rPr>
              <a:t>5 部成功補上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4461C-6084-48A7-9DDC-4D9D1300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76750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rPr>
              <a:t>5 部繼續候補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DBBA4-66AF-41D2-8CD4-17634A9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庫存不足仍可排候補。部分遞補會拆單，保留原排隊時間及剩餘需求。</a:t>
            </a:r>
          </a:p>
        </p:txBody>
      </p:sp>
    </p:spTree>
    <p:extLst>
      <p:ext uri="{BB962C8B-B14F-4D97-AF65-F5344CB8AC3E}">
        <p14:creationId xmlns:p14="http://schemas.microsoft.com/office/powerpoint/2010/main" val="834479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D43078-1EE5-4EC1-8706-4D9F4360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全校設備借用分佈月曆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80E86-C5F2-4452-815F-A6070F9D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用顏色及剩餘數量，提早掌握供應狀況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B8EF4-F085-49D8-BEF8-DD6C17A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E22EB-D3C1-4351-9D2A-017C030A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D11AF-1827-4095-8768-15644F3A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77B59-F2BE-4DA6-9663-2AAAB79A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2E52A-843A-497D-AB42-EE1D5C58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952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rPr>
              <a:t>供應充足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4B411-2D65-4BC9-876B-0E925A2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098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剩餘多於一半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7DA3D-07C4-4655-B42C-B384EEF1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1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50891-8335-41DA-92E8-7A0968FF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52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rPr>
              <a:t>緊張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92657-68D4-400D-9858-B0A1E86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9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剩餘一半或以下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AD71A-66C9-4492-A629-46DA37AE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EAE97-09CE-4C36-9038-E332D8C1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529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rPr>
              <a:t>額滿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7108F-47A2-4945-86C6-44F7DE26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01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剩餘 0 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BB3AD-051C-4818-A0A8-43A35635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288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月曆局部示意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99AEA-5B19-43DE-94BB-962373B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示例：當日可借總量 50 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15179-7FA9-4346-9637-D1275E8C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14650"/>
            <a:ext cx="1323975" cy="2476500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D3203-E85A-4E1F-BD00-FEA8083B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575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一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27BF8-D4D5-4377-A59F-556CE30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90925"/>
            <a:ext cx="1133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B58FA-4F93-43B5-8A25-83ADC762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第 1 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C7D7C-CC41-4806-B95B-2AF1E105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00525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iPad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877AE-A077-45BB-8D53-3FA2CB1E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86300"/>
            <a:ext cx="113347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F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29B84-D3DD-4222-B129-9059D34A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863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rPr>
              <a:t>40 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D5DE6-E556-488A-9313-B4DCE417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914650"/>
            <a:ext cx="1323975" cy="2476500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9F848-A55F-4CEF-B17F-496B16CF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575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二 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2F75C2-40D1-4536-818B-8AE14E7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590925"/>
            <a:ext cx="1133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14EA3-C4F8-4063-8D86-5596A012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100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第 1 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CD077-1552-4E44-934B-545BDAEF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200525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iPad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BD482C-F538-4A7F-BB82-4684918C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686300"/>
            <a:ext cx="113347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2D3FC-18C1-456A-9640-C7C0DAE8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863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rPr>
              <a:t>25 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AFE497-5230-4015-A1F3-E0529C1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14650"/>
            <a:ext cx="1323975" cy="2476500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FF0F73-2801-41A3-9C10-89E01424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575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三 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B0FF7-0777-4146-ADAB-2C4E413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90925"/>
            <a:ext cx="1133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3A512F-6B52-4115-85CF-C097C6EE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8100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第 1 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8B0FD7-633D-4DDD-AAF3-A0A2F239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00525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iPad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3DB96A-4E7F-484B-862A-09C32184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686300"/>
            <a:ext cx="113347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212CA3-CC9D-4014-9E58-AAA66B2C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6863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rPr>
              <a:t>0 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D1C1F6-6978-4917-B222-4754488F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14650"/>
            <a:ext cx="1323975" cy="2476500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4B8986-0B0B-4AA2-8831-4302CB41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四 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CCD31B-068A-45CA-B2CF-927C1ABB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90925"/>
            <a:ext cx="1133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8ED934-2E11-4B34-8D17-F3650FA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8100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第 1 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CD8AC1-938A-4FEE-8C64-628A2F86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00525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iPad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621E3A-4C0F-4907-B423-9672DD75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686300"/>
            <a:ext cx="113347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9415AC-AB5D-4F1F-9D19-637A1DCF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863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rPr>
              <a:t>10 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7E0E4A-7DC6-4C02-BDC9-80EC7B49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914650"/>
            <a:ext cx="1323975" cy="2476500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40D71D-63E6-48C8-B15E-B0144313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575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五 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67A495-B9CA-433C-AF8A-50322D13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590925"/>
            <a:ext cx="1133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89C897-3361-4F3A-A92F-BAC513BF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8100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第 1 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D9116E-F3D1-4A29-9384-0088F1F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200525"/>
            <a:ext cx="113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iPad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F1276F-6A88-4A8B-9FF7-01B788FC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686300"/>
            <a:ext cx="113347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F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0E04F6-D13C-416A-882B-E462820F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863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rPr>
              <a:t>30 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7BEA1B-2860-4E03-90F6-47D8E88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緊張提示會按各設備的當日可借總量計算，並配合每日庫存調節。</a:t>
            </a:r>
          </a:p>
        </p:txBody>
      </p:sp>
    </p:spTree>
    <p:extLst>
      <p:ext uri="{BB962C8B-B14F-4D97-AF65-F5344CB8AC3E}">
        <p14:creationId xmlns:p14="http://schemas.microsoft.com/office/powerpoint/2010/main" val="1365655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E61AC-DCA7-46F4-AA02-F0733FE5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我的借用總表：查閱與直接操作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64872-E0E6-4A9E-AF90-B28F616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按日期、設備及狀態篩選自己的記錄，管理員代登記亦會列出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2B52E-99E9-415C-A542-2D4BA762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C1951-B2F9-44DE-B0C1-34E1149D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C7D89-64A6-4EDA-8A5D-950411B2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A3562-8E07-44AA-B588-B39AA309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31432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E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F7AF0-F9E0-46E1-AD85-5EDF1002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rPr>
              <a:t>最新更新　10月29日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EFEF7-FB93-427F-A630-6B995DBC9379}"/>
              </a:ext>
            </a:extLst>
          </p:cNvPr>
          <p:cNvGraphicFramePr/>
          <p:nvPr/>
        </p:nvGraphicFramePr>
        <p:xfrm>
          <a:off xmlns:a="http://schemas.openxmlformats.org/drawingml/2006/main" x="590550" y="2419350"/>
          <a:ext xmlns:a="http://schemas.openxmlformats.org/drawingml/2006/main" cx="1101090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1952625"/>
                <a:gridCol w="1095375"/>
                <a:gridCol w="1047750"/>
                <a:gridCol w="1476375"/>
                <a:gridCol w="3581400"/>
              </a:tblGrid>
              <a:tr h="8477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借用日期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T w="9525">
                      <a:solidFill>
                        <a:srgbClr val="D7E5E5"/>
                      </a:solidFill>
                      <a:prstDash val="solid"/>
                    </a:lnT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設備／申請機種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T w="9525">
                      <a:solidFill>
                        <a:srgbClr val="D7E5E5"/>
                      </a:solidFill>
                      <a:prstDash val="solid"/>
                    </a:lnT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班別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T w="9525">
                      <a:solidFill>
                        <a:srgbClr val="D7E5E5"/>
                      </a:solidFill>
                      <a:prstDash val="solid"/>
                    </a:lnT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數量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T w="9525">
                      <a:solidFill>
                        <a:srgbClr val="D7E5E5"/>
                      </a:solidFill>
                      <a:prstDash val="solid"/>
                    </a:lnT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狀態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T w="9525">
                      <a:solidFill>
                        <a:srgbClr val="D7E5E5"/>
                      </a:solidFill>
                      <a:prstDash val="solid"/>
                    </a:lnT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T w="9525">
                      <a:solidFill>
                        <a:srgbClr val="D7E5E5"/>
                      </a:solidFill>
                      <a:prstDash val="solid"/>
                    </a:lnT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</a:tr>
              <a:tr h="8477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10月30日</a:t>
                      </a:r>
                    </a:p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第二節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iPad</a:t>
                      </a:r>
                    </a:p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30 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待取機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11月02日</a:t>
                      </a:r>
                    </a:p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第三節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iPad</a:t>
                      </a:r>
                    </a:p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較高性能機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 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候補中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/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CB7E8-3157-46DA-A401-AF06A452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48050"/>
            <a:ext cx="14287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9B10B-EC8B-47D3-8AE8-A90D43D9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4805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修改數量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E4365-4F2B-4082-92EC-CDD8120C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48050"/>
            <a:ext cx="1524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E64E3-95F4-4DC0-99F3-5FBFB2DF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448050"/>
            <a:ext cx="137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rPr>
              <a:t>取消借用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BD43D-820A-44B6-AE73-39410BDD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14287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4FB2D-9589-4369-A782-67DEB120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95775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修改數量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2E17F-6377-4F5D-A8FC-318B80D9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295775"/>
            <a:ext cx="1524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47DBF-0F56-4D60-83EC-827BD003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95775"/>
            <a:ext cx="137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BE123C"/>
                </a:solidFill>
                <a:latin typeface="Noto Sans CJK TC"/>
                <a:ea typeface="Noto Sans CJK TC"/>
                <a:cs typeface="Noto Sans CJK TC"/>
              </a:rPr>
              <a:t>取消借用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866F2-1207-44FE-8310-43D1A05B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在同一張總表完成修改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0D4AC-83B7-4EFD-B06E-1EB9743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更新後自動刷新記錄及統計，保留篩選設定。</a:t>
            </a:r>
          </a:p>
        </p:txBody>
      </p:sp>
    </p:spTree>
    <p:extLst>
      <p:ext uri="{BB962C8B-B14F-4D97-AF65-F5344CB8AC3E}">
        <p14:creationId xmlns:p14="http://schemas.microsoft.com/office/powerpoint/2010/main" val="15108194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1C14D-D6C5-4291-B5E1-9C5AA94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登入提醒與狀態提示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27AF1-8377-4CB8-B522-DE0D9BB5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集中顯示本週安排，清楚區分待取與候補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40065-7B62-441B-9CE2-FC5E25C7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392B0-5F87-4E4E-8335-AAF9A5F8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70C2D-9D17-4D55-A021-4518E61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B5D6E-1721-4BE7-A336-2FD6DB3D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6477000" cy="35433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8A845-8CCA-4EBE-A2A4-98928EF0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本週借用提醒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CDDF3-66A7-48BB-91DA-592F0BE7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051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10月26日至11月1日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B4E38-2334-4882-91E3-63F9AC16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586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D7DB1-7F46-41C9-B93B-D98F4514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57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10月30日　第二節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F8C5A-8EC4-4339-8B76-43FA118B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6240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iPad　30 部　2A　待取機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D47B8-4C99-4E17-8400-47D1B43C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5895975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06DFF-D1C3-455D-B58B-1D1B0B5C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5743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每次登入提示本週個人安排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B74D3-9EEB-4CEF-BFB0-AAF1703D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38375"/>
            <a:ext cx="36766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CF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63443-F0F4-4835-ACE7-5259297C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38375"/>
            <a:ext cx="352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rPr>
              <a:t>借用登記成功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4B505-4087-48F4-BCF4-6CED6BAD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099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已列為待取機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794CC-09CA-46C5-860B-CF938892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38600"/>
            <a:ext cx="36766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98373-BC61-4598-B843-C81B8CF4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352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rPr>
              <a:t>已加入候補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1F10E-2748-41BB-8051-D24B5BF9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9675"/>
            <a:ext cx="357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等候庫存釋出及遞補</a:t>
            </a:r>
          </a:p>
        </p:txBody>
      </p:sp>
    </p:spTree>
    <p:extLst>
      <p:ext uri="{BB962C8B-B14F-4D97-AF65-F5344CB8AC3E}">
        <p14:creationId xmlns:p14="http://schemas.microsoft.com/office/powerpoint/2010/main" val="591741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F57F7-3FAD-4226-A940-880DD9D4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預約日期與取消期限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53AE4-C66C-465E-9346-E355682B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保留圖書館調配時間，避免借用當日突然取消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5AF10-52EE-4BB2-84C4-73F06CDE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3C3A2-6F77-4658-9540-EF1081CB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35E87-77F3-4DB2-AEDD-0D701281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BA88E-7CC7-4F87-A35B-2FDC6D20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新增借用暫只開放至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0D032-B5CF-4672-AE6E-95077B9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35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2026年12月31日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773AD-A792-4F65-9677-885BC8FB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000500" cy="447675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BFECC-51AD-4B24-84E4-D80E5ABE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3848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多日期借用同樣適用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FAB41-0790-414C-A732-E0E56C81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5248275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15368-6C88-4D8A-9C32-2F3A5505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466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rPr>
              <a:t>2027年1月或以後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55FE4-41BE-4406-AE35-9380B5F8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479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暫未開放新增預約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80460-758D-42F3-AD86-A4DB0D6E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3C639-D489-4470-B880-4E4BE257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148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11月5日借用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DB33D-B656-4A93-9A0A-2A03FBA4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148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最遲11月4日取消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7F0CC-4DF5-4B24-8446-D72EEE90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到了借用當日，不可自行取消或減少數量。特殊情況請聯絡管理員。</a:t>
            </a:r>
          </a:p>
        </p:txBody>
      </p:sp>
    </p:spTree>
    <p:extLst>
      <p:ext uri="{BB962C8B-B14F-4D97-AF65-F5344CB8AC3E}">
        <p14:creationId xmlns:p14="http://schemas.microsoft.com/office/powerpoint/2010/main" val="11005707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2EB0D-41C2-4868-B290-B46D99DC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管理員後台與圖書館工作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4C560-BA29-4D23-BC95-BD7A3C3C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把預約、取還及每日供應放在同一個管理流程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AC9BC-5EA0-4A9F-9905-78DB6504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D01A5-9544-4753-B987-C1B52C97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090A5-9D2C-4919-8688-66C26B6B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6DFFA-4A25-4C41-8996-11AD8139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31623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08A61-6EC7-49E2-852A-220358DA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D99113"/>
                </a:solidFill>
                <a:latin typeface="Noto Sans CJK TC"/>
                <a:ea typeface="Noto Sans CJK TC"/>
                <a:cs typeface="Noto Sans CJK TC"/>
              </a:rPr>
              <a:t>待取機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B9A66-4754-4E6E-A961-411F296E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52675"/>
            <a:ext cx="257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9B61D-E9D0-4D5E-85B8-0FEEA240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33575"/>
            <a:ext cx="31623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5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0F2A1-803D-43E9-9F50-6CDDCFF7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33575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rPr>
              <a:t>已取機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C0419-D75A-43A5-800A-737D5C0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52675"/>
            <a:ext cx="257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A1C3E-B65D-4B34-871E-FEE0CBB3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31623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F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DD12B-A8BA-4844-A17C-41F2C9E5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33575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5805D"/>
                </a:solidFill>
                <a:latin typeface="Noto Sans CJK TC"/>
                <a:ea typeface="Noto Sans CJK TC"/>
                <a:cs typeface="Noto Sans CJK TC"/>
              </a:rPr>
              <a:t>已歸還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D618C-7256-439D-AEAE-E5615CE6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267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每日供應調節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B603A-70CA-4312-9BD3-4E02E0A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2670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按維修、外借或其他安排，</a:t>
            </a:r>
          </a:p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調整當天可借用數量。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79BB5-A4A8-4DDE-A395-B3D440C3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3267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286AA1"/>
                </a:solidFill>
                <a:latin typeface="Noto Sans CJK TC"/>
                <a:ea typeface="Noto Sans CJK TC"/>
                <a:cs typeface="Noto Sans CJK TC"/>
              </a:rPr>
              <a:t>欠取與停借紀錄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3A170-64BF-4D60-A6DB-47A01483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32670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累計兩次欠取後，系統按規則</a:t>
            </a:r>
          </a:p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暫停借用兩個工作天。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2BED3-60A6-4D36-93D4-43C40025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3267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6D4BC3"/>
                </a:solidFill>
                <a:latin typeface="Noto Sans CJK TC"/>
                <a:ea typeface="Noto Sans CJK TC"/>
                <a:cs typeface="Noto Sans CJK TC"/>
              </a:rPr>
              <a:t>特殊情況處理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A7E98-5C2A-4A31-9122-847CC5AD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32670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管理員保留代登記、</a:t>
            </a:r>
          </a:p>
          <a:p xmlns:a="http://schemas.openxmlformats.org/drawingml/2006/main">
            <a:pPr algn="l">
              <a:def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強制取消及例外處理權限。</a:t>
            </a:r>
          </a:p>
        </p:txBody>
      </p:sp>
    </p:spTree>
    <p:extLst>
      <p:ext uri="{BB962C8B-B14F-4D97-AF65-F5344CB8AC3E}">
        <p14:creationId xmlns:p14="http://schemas.microsoft.com/office/powerpoint/2010/main" val="3373918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5B6C4-0904-4BBA-BDD7-F8F539AE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後續更新與目的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71425-A285-46F7-9445-949F0AC3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配合同事使用需要，逐步補齊預約及管理流程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5015C-867F-4138-BA2C-7CA44D61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1D08A-9D02-4866-9576-B2948468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CF9E-D37E-4954-8937-AAC7CE64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16BB-7374-4DA2-89C1-1860C5D5693B}"/>
              </a:ext>
            </a:extLst>
          </p:cNvPr>
          <p:cNvGraphicFramePr/>
          <p:nvPr/>
        </p:nvGraphicFramePr>
        <p:xfrm>
          <a:off xmlns:a="http://schemas.openxmlformats.org/drawingml/2006/main" x="590550" y="1704975"/>
          <a:ext xmlns:a="http://schemas.openxmlformats.org/drawingml/2006/main" cx="1101090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114800"/>
                <a:gridCol w="5133975"/>
              </a:tblGrid>
              <a:tr h="6000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更新日期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T w="9525">
                      <a:solidFill>
                        <a:srgbClr val="D7E5E5"/>
                      </a:solidFill>
                      <a:prstDash val="solid"/>
                    </a:lnT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新增／改善功能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T w="9525">
                      <a:solidFill>
                        <a:srgbClr val="D7E5E5"/>
                      </a:solidFill>
                      <a:prstDash val="solid"/>
                    </a:lnT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目的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T w="9525">
                      <a:solidFill>
                        <a:srgbClr val="D7E5E5"/>
                      </a:solidFill>
                      <a:prstDash val="solid"/>
                    </a:lnT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</a:tr>
              <a:tr h="6000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10月14日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多日期、多課節借用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減少重複填寫班別及借用資料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10月14日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個人總表、本週提醒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集中本人安排，方便核對取機時間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</a:tr>
              <a:tr h="6000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10月14日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月曆緊張／額滿提示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提早看見供應情況，協助調整安排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10月16日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日期上限與取消期限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管理預約範圍，預留資源調配時間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</a:tr>
              <a:tr h="6000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10月29日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總表直接修改／取消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減少返回登記頁尋找預約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10月29日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E5E5"/>
                      </a:solidFill>
                      <a:prstDash val="solid"/>
                    </a:lnL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顯示申請機種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8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方便核對普通機或較高性能需求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E5E5"/>
                      </a:solidFill>
                      <a:prstDash val="solid"/>
                    </a:lnR>
                    <a:lnB w="9525">
                      <a:solidFill>
                        <a:srgbClr val="D7E5E5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2858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2BFA6-64D1-467F-91A3-FCF6906C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75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rPr>
              <a:t>同事使用重點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8C357-EFA4-47DD-A988-E37746E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預約、核對及更改，都可在系統內完成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6A26A-D552-456B-8748-5935790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841D8-5D14-4DA7-ADFC-D38D8050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46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卍慈中學　設備借用系統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58836-6297-4C9C-9B48-C8CF8F1C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05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C4E5D-4C88-4661-804C-16879381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7977B-94C3-46CB-98E4-A2E625A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FC3AF-D46D-4873-A28A-BFDC4630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04975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按教學用途選機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C673E-CDFF-4CD7-8996-7E82BC5A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240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基礎網頁或互動多媒體，按實際需要申請。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E51A6-B2E3-4685-8A3D-F239D010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5A811-1E1B-4E76-91CB-19DF652F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DDB44-D9E1-476E-885D-95415C8C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確認待取／候補狀態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9CD94-0738-4A91-950B-0225E12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候補成功後會更新狀態，取機前先核對。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EFF8F-CED4-4598-9E45-80DAE7AF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0620A-357E-452A-9353-02B9E63A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ED173-EDBD-4618-979C-A5AEFEDD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57575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需要更改時用個人總表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14BED-6414-485A-8A8E-E29D4A1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直接修改數量或取消，留意借用日前期限。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43EF9-52EA-43B8-BD6A-C6D3E160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15A48-0578-4A15-B61E-D9B16000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3750F-2236-4608-8EA2-27A23C7E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0F766E"/>
                </a:solidFill>
                <a:latin typeface="Noto Sans CJK TC"/>
                <a:ea typeface="Noto Sans CJK TC"/>
                <a:cs typeface="Noto Sans CJK TC"/>
              </a:rPr>
              <a:t>準時取還，方便下一班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F4089-6AE3-4696-8C8E-6C5EA22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647780"/>
                </a:solidFill>
                <a:latin typeface="Noto Sans CJK TC"/>
                <a:ea typeface="Noto Sans CJK TC"/>
                <a:cs typeface="Noto Sans CJK TC"/>
              </a:rPr>
              <a:t>特殊安排及當日例外請聯絡管理員。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D5644-7974-4F4A-8DD9-9CAE716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74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843"/>
                </a:solidFill>
                <a:latin typeface="Noto Sans CJK TC"/>
                <a:ea typeface="Noto Sans CJK TC"/>
                <a:cs typeface="Noto Sans CJK TC"/>
                <a:hlinkClick xmlns:r="http://schemas.openxmlformats.org/officeDocument/2006/relationships" r:id="R29cb6db0831e4b4a"/>
              </a:rPr>
              <a:t>rss-itadmin-ipad-borrow.vercel.app</a:t>
            </a:r>
          </a:p>
        </p:txBody>
      </p:sp>
    </p:spTree>
    <p:extLst>
      <p:ext uri="{BB962C8B-B14F-4D97-AF65-F5344CB8AC3E}">
        <p14:creationId xmlns:p14="http://schemas.microsoft.com/office/powerpoint/2010/main" val="1978375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2026-10-29T09:40:21.2430000Z</dcterms:created>
  <dcterms:modified xsi:type="dcterms:W3CDTF">2026-10-29T09:40:21.2430000Z</dcterms:modified>
</coreProperties>
</file>